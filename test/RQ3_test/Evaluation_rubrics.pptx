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sldIdLst>
    <p:sldId id="258" r:id="rId2"/>
    <p:sldId id="260" r:id="rId3"/>
    <p:sldId id="259"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68"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B517FA-3F7B-3CBF-5B8D-8A72924864F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CF899C3-5F4E-30CC-3C7D-51346BD228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B6D9F86-BFF4-4651-784B-4B4512CEE7B8}"/>
              </a:ext>
            </a:extLst>
          </p:cNvPr>
          <p:cNvSpPr>
            <a:spLocks noGrp="1"/>
          </p:cNvSpPr>
          <p:nvPr>
            <p:ph type="dt" sz="half" idx="10"/>
          </p:nvPr>
        </p:nvSpPr>
        <p:spPr/>
        <p:txBody>
          <a:bodyPr/>
          <a:lstStyle/>
          <a:p>
            <a:fld id="{860A5F91-12CC-4CB7-810B-189E2E7E9391}"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41325481-DEC6-146D-FA90-16A0C42EDD6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27142C9-9B66-1836-A4AA-1DED7E46CEDC}"/>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478463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95EC15-16C8-13FC-E228-D44DD07415E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4A143D8-5137-EF0D-B8F0-44B314FE3D6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81E2054-C814-5AF7-64F5-B4255A957DF6}"/>
              </a:ext>
            </a:extLst>
          </p:cNvPr>
          <p:cNvSpPr>
            <a:spLocks noGrp="1"/>
          </p:cNvSpPr>
          <p:nvPr>
            <p:ph type="dt" sz="half" idx="10"/>
          </p:nvPr>
        </p:nvSpPr>
        <p:spPr/>
        <p:txBody>
          <a:bodyPr/>
          <a:lstStyle/>
          <a:p>
            <a:fld id="{860A5F91-12CC-4CB7-810B-189E2E7E9391}"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16E86DCF-4127-6F7D-6281-E22FE1B9BC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5CE8A7C-391C-B0B8-E404-1F56C36B14A5}"/>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2015684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8761BA-236D-2C5F-22F8-DF662C95AA1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80668B6-EF7E-4488-4578-A9E2BEE79F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EB40B9D-49C8-4DBA-5C3E-35D998D82BFE}"/>
              </a:ext>
            </a:extLst>
          </p:cNvPr>
          <p:cNvSpPr>
            <a:spLocks noGrp="1"/>
          </p:cNvSpPr>
          <p:nvPr>
            <p:ph type="dt" sz="half" idx="10"/>
          </p:nvPr>
        </p:nvSpPr>
        <p:spPr/>
        <p:txBody>
          <a:bodyPr/>
          <a:lstStyle/>
          <a:p>
            <a:fld id="{860A5F91-12CC-4CB7-810B-189E2E7E9391}"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881DF944-3CB1-917D-F779-D8D5537C3C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CEEFBEE-93EE-C4FA-E792-777D24DA6EDE}"/>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2688616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F3DDA0-D8D7-1F9D-F14D-DCCB4DA9368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7A9819A-143C-3925-E64C-4DF5FE4BB0A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3840D8E-D7D5-1412-FEE0-C78D10173D0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16AE14B-2213-BF03-9066-DFAACF0A5798}"/>
              </a:ext>
            </a:extLst>
          </p:cNvPr>
          <p:cNvSpPr>
            <a:spLocks noGrp="1"/>
          </p:cNvSpPr>
          <p:nvPr>
            <p:ph type="dt" sz="half" idx="10"/>
          </p:nvPr>
        </p:nvSpPr>
        <p:spPr/>
        <p:txBody>
          <a:bodyPr/>
          <a:lstStyle/>
          <a:p>
            <a:fld id="{860A5F91-12CC-4CB7-810B-189E2E7E9391}"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103A8DC3-ACDB-49A6-5451-CE3B6177F53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B0C7F50-8EF2-AD5D-F98C-6CC53AD6D560}"/>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50115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F7997F-EAEF-EA1A-19D2-13E6C33F2C6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773CDD8-C53A-1528-60C8-92C149CB78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EFE48F4-3053-3978-D988-0D759994022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76D6489-1ED1-A9BD-8D39-953B8F0024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794DE1-BF1F-FAC7-1918-13E295D8A96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B54A81C-D8B1-861A-DAE4-8E4C8349C6B8}"/>
              </a:ext>
            </a:extLst>
          </p:cNvPr>
          <p:cNvSpPr>
            <a:spLocks noGrp="1"/>
          </p:cNvSpPr>
          <p:nvPr>
            <p:ph type="dt" sz="half" idx="10"/>
          </p:nvPr>
        </p:nvSpPr>
        <p:spPr/>
        <p:txBody>
          <a:bodyPr/>
          <a:lstStyle/>
          <a:p>
            <a:fld id="{860A5F91-12CC-4CB7-810B-189E2E7E9391}" type="datetimeFigureOut">
              <a:rPr lang="zh-CN" altLang="en-US" smtClean="0"/>
              <a:t>2026/10/19</a:t>
            </a:fld>
            <a:endParaRPr lang="zh-CN" altLang="en-US"/>
          </a:p>
        </p:txBody>
      </p:sp>
      <p:sp>
        <p:nvSpPr>
          <p:cNvPr id="8" name="页脚占位符 7">
            <a:extLst>
              <a:ext uri="{FF2B5EF4-FFF2-40B4-BE49-F238E27FC236}">
                <a16:creationId xmlns:a16="http://schemas.microsoft.com/office/drawing/2014/main" id="{86000176-0BE2-0788-984F-B88A15A13BC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3F94DB0-E593-F18C-346F-D1C75729B26A}"/>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3328436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03AB17-C4BD-985B-5D43-9795D47F2F1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D3F59F7-1355-6F9E-D13B-8AE22AACCCDE}"/>
              </a:ext>
            </a:extLst>
          </p:cNvPr>
          <p:cNvSpPr>
            <a:spLocks noGrp="1"/>
          </p:cNvSpPr>
          <p:nvPr>
            <p:ph type="dt" sz="half" idx="10"/>
          </p:nvPr>
        </p:nvSpPr>
        <p:spPr/>
        <p:txBody>
          <a:bodyPr/>
          <a:lstStyle/>
          <a:p>
            <a:fld id="{860A5F91-12CC-4CB7-810B-189E2E7E9391}" type="datetimeFigureOut">
              <a:rPr lang="zh-CN" altLang="en-US" smtClean="0"/>
              <a:t>2026/10/19</a:t>
            </a:fld>
            <a:endParaRPr lang="zh-CN" altLang="en-US"/>
          </a:p>
        </p:txBody>
      </p:sp>
      <p:sp>
        <p:nvSpPr>
          <p:cNvPr id="4" name="页脚占位符 3">
            <a:extLst>
              <a:ext uri="{FF2B5EF4-FFF2-40B4-BE49-F238E27FC236}">
                <a16:creationId xmlns:a16="http://schemas.microsoft.com/office/drawing/2014/main" id="{EF35BC07-79EF-9C1E-45E9-ADBC3943D7B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4890DA8-452C-A3F1-CD86-E6CF48B5BEB8}"/>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1458265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92F10DC-5866-1A9A-6C53-41EB8080C029}"/>
              </a:ext>
            </a:extLst>
          </p:cNvPr>
          <p:cNvSpPr>
            <a:spLocks noGrp="1"/>
          </p:cNvSpPr>
          <p:nvPr>
            <p:ph type="dt" sz="half" idx="10"/>
          </p:nvPr>
        </p:nvSpPr>
        <p:spPr/>
        <p:txBody>
          <a:bodyPr/>
          <a:lstStyle/>
          <a:p>
            <a:fld id="{860A5F91-12CC-4CB7-810B-189E2E7E9391}" type="datetimeFigureOut">
              <a:rPr lang="zh-CN" altLang="en-US" smtClean="0"/>
              <a:t>2026/10/19</a:t>
            </a:fld>
            <a:endParaRPr lang="zh-CN" altLang="en-US"/>
          </a:p>
        </p:txBody>
      </p:sp>
      <p:sp>
        <p:nvSpPr>
          <p:cNvPr id="3" name="页脚占位符 2">
            <a:extLst>
              <a:ext uri="{FF2B5EF4-FFF2-40B4-BE49-F238E27FC236}">
                <a16:creationId xmlns:a16="http://schemas.microsoft.com/office/drawing/2014/main" id="{CA9A623A-07BD-BF0E-C67B-E6D5C5BA8CC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5EF01CF-3EE5-97DF-3AEC-B15AEBE74230}"/>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3084169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6D26EF-9DB3-4C08-853C-E07DDC96916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12E08F6-F4B2-2B9B-3200-61A52006F9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8AA5CC8-60BE-7971-C4C0-9F0AB36F1F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9525ED0-2571-DAFB-FBFE-7DAF0D605F29}"/>
              </a:ext>
            </a:extLst>
          </p:cNvPr>
          <p:cNvSpPr>
            <a:spLocks noGrp="1"/>
          </p:cNvSpPr>
          <p:nvPr>
            <p:ph type="dt" sz="half" idx="10"/>
          </p:nvPr>
        </p:nvSpPr>
        <p:spPr/>
        <p:txBody>
          <a:bodyPr/>
          <a:lstStyle/>
          <a:p>
            <a:fld id="{860A5F91-12CC-4CB7-810B-189E2E7E9391}"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55BDE9EC-5CF2-821B-C3BE-78DC47708B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A11B7E9-1D11-776D-8967-A9E773ACDCC8}"/>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1478318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B1EE54-6609-678D-3ECA-0B42ADEF983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EB2448A-7400-D92E-9D3A-E0EB4A1702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5C5F4AB-D398-76DD-45F6-DDE4F90542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23B8164-32E0-A7D4-7A62-D1FBFB61A215}"/>
              </a:ext>
            </a:extLst>
          </p:cNvPr>
          <p:cNvSpPr>
            <a:spLocks noGrp="1"/>
          </p:cNvSpPr>
          <p:nvPr>
            <p:ph type="dt" sz="half" idx="10"/>
          </p:nvPr>
        </p:nvSpPr>
        <p:spPr/>
        <p:txBody>
          <a:bodyPr/>
          <a:lstStyle/>
          <a:p>
            <a:fld id="{860A5F91-12CC-4CB7-810B-189E2E7E9391}"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4E5D7F8B-64E0-ADC9-3DD8-71C42C40E1E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76F37FC-66D1-5477-7F83-B31B9F358FD3}"/>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1619239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F1B700-C839-A924-A52D-D880EF7CAB7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5868088-8D68-1985-E3D7-F9B8EA07DF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2F85F73-6065-1D7F-4AA2-C4F3DAE80B68}"/>
              </a:ext>
            </a:extLst>
          </p:cNvPr>
          <p:cNvSpPr>
            <a:spLocks noGrp="1"/>
          </p:cNvSpPr>
          <p:nvPr>
            <p:ph type="dt" sz="half" idx="10"/>
          </p:nvPr>
        </p:nvSpPr>
        <p:spPr/>
        <p:txBody>
          <a:bodyPr/>
          <a:lstStyle/>
          <a:p>
            <a:fld id="{860A5F91-12CC-4CB7-810B-189E2E7E9391}"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24147B5D-DD51-DAE3-DA35-470151F301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FB8B1C8-95F2-3787-056C-AA6A07AABBEF}"/>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697985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E6E6D46-CCA6-94B4-CA58-3A515813B88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FB2D301-D49B-6BC7-2664-431C5A31ADA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BDB68FC-3B27-63BA-68A1-57B484A2744B}"/>
              </a:ext>
            </a:extLst>
          </p:cNvPr>
          <p:cNvSpPr>
            <a:spLocks noGrp="1"/>
          </p:cNvSpPr>
          <p:nvPr>
            <p:ph type="dt" sz="half" idx="10"/>
          </p:nvPr>
        </p:nvSpPr>
        <p:spPr/>
        <p:txBody>
          <a:bodyPr/>
          <a:lstStyle/>
          <a:p>
            <a:fld id="{860A5F91-12CC-4CB7-810B-189E2E7E9391}"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472C8EFD-01C2-A40E-8268-6AC6C2C822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1BB3DD1-8DA8-424E-8163-F994919B03BE}"/>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3545460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FE2B0CC-3809-913C-561D-2BF8F25787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45ACD8C-5DE1-A355-8F1C-A820265F3A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052ED8E-ABF8-2A38-631B-45B4B59E7C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0A5F91-12CC-4CB7-810B-189E2E7E9391}"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8FEC4FAD-F14A-1126-62E3-08B2296C9D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52CBC4E-F680-4A48-2440-161101442B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23800611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8E948B3-B484-33D5-99E6-0C45C7B9F00F}"/>
              </a:ext>
            </a:extLst>
          </p:cNvPr>
          <p:cNvSpPr txBox="1"/>
          <p:nvPr/>
        </p:nvSpPr>
        <p:spPr>
          <a:xfrm>
            <a:off x="385011" y="108012"/>
            <a:ext cx="10544245" cy="5909310"/>
          </a:xfrm>
          <a:prstGeom prst="rect">
            <a:avLst/>
          </a:prstGeom>
          <a:noFill/>
        </p:spPr>
        <p:txBody>
          <a:bodyPr wrap="square" rtlCol="0">
            <a:spAutoFit/>
          </a:bodyPr>
          <a:lstStyle/>
          <a:p>
            <a:pPr marL="342900" indent="-342900">
              <a:buAutoNum type="arabicPeriod"/>
            </a:pPr>
            <a:r>
              <a:rPr lang="zh-CN" altLang="en-US" b="1" dirty="0"/>
              <a:t>Core Defect Localization Accuracy</a:t>
            </a:r>
            <a:endParaRPr lang="en-US" altLang="zh-CN" b="1" dirty="0"/>
          </a:p>
          <a:p>
            <a:r>
              <a:rPr lang="zh-CN" altLang="en-US" b="1" dirty="0"/>
              <a:t>Rating gradient (</a:t>
            </a:r>
            <a:r>
              <a:rPr lang="en-US" altLang="zh-CN" b="1" dirty="0"/>
              <a:t>0-3</a:t>
            </a:r>
            <a:r>
              <a:rPr lang="zh-CN" altLang="en-US" b="1" dirty="0"/>
              <a:t> Score)</a:t>
            </a:r>
            <a:r>
              <a:rPr lang="zh-CN" altLang="en-US" dirty="0"/>
              <a:t>：</a:t>
            </a:r>
          </a:p>
          <a:p>
            <a:r>
              <a:rPr lang="en-US" altLang="zh-CN" b="1" dirty="0"/>
              <a:t>1</a:t>
            </a:r>
            <a:r>
              <a:rPr lang="zh-CN" altLang="en-US" b="1" dirty="0"/>
              <a:t> Score (complete miss)</a:t>
            </a:r>
            <a:r>
              <a:rPr lang="zh-CN" altLang="en-US" dirty="0"/>
              <a:t>:Believes the agent's response is entirely correct, or the issues pointed out are unrelated to medication.</a:t>
            </a:r>
          </a:p>
          <a:p>
            <a:r>
              <a:rPr lang="en-US" altLang="zh-CN" b="1" dirty="0"/>
              <a:t>2</a:t>
            </a:r>
            <a:r>
              <a:rPr lang="zh-CN" altLang="en-US" b="1" dirty="0"/>
              <a:t> Score (by Misleading Shallow Localization</a:t>
            </a:r>
            <a:r>
              <a:rPr lang="en-US" altLang="zh-CN" b="1" dirty="0"/>
              <a:t>)</a:t>
            </a:r>
            <a:r>
              <a:rPr lang="zh-CN" altLang="en-US" dirty="0"/>
              <a:t>:Points out that aspirin and ibuprofen should not be taken together, but the reason given is that taking these two medications together is too harsh on the stomach.</a:t>
            </a:r>
          </a:p>
          <a:p>
            <a:r>
              <a:rPr lang="en-US" altLang="zh-CN" b="1" dirty="0"/>
              <a:t>3 </a:t>
            </a:r>
            <a:r>
              <a:rPr lang="zh-CN" altLang="en-US" b="1" dirty="0"/>
              <a:t>Score (Precise Root Cause Localization)</a:t>
            </a:r>
            <a:r>
              <a:rPr lang="zh-CN" altLang="en-US" dirty="0"/>
              <a:t>:Clearly indicate that ibuprofen antagonizes the antiplatelet effect of aspirin, leading to a risk of thrombosis in patients with cardiac stents. This demonstrates that the subject has fully penetrated the system's misleading information.</a:t>
            </a:r>
            <a:endParaRPr lang="en-US" altLang="zh-CN" dirty="0"/>
          </a:p>
          <a:p>
            <a:endParaRPr lang="zh-CN" altLang="en-US" dirty="0"/>
          </a:p>
          <a:p>
            <a:r>
              <a:rPr lang="en-US" altLang="zh-CN" b="1" dirty="0"/>
              <a:t>2. </a:t>
            </a:r>
            <a:r>
              <a:rPr lang="zh-CN" altLang="en-US" b="1" dirty="0"/>
              <a:t>Number of false positives for distractor items</a:t>
            </a:r>
            <a:endParaRPr lang="en-US" altLang="zh-CN" b="1" dirty="0"/>
          </a:p>
          <a:p>
            <a:r>
              <a:rPr lang="zh-CN" altLang="en-US" b="1" dirty="0"/>
              <a:t>Specific deduction of points</a:t>
            </a:r>
            <a:r>
              <a:rPr lang="en-US" altLang="zh-CN" b="1" dirty="0"/>
              <a:t>/</a:t>
            </a:r>
            <a:r>
              <a:rPr lang="zh-CN" altLang="en-US" b="1" dirty="0"/>
              <a:t>Count item (recorded each time one is stepped on)</a:t>
            </a:r>
            <a:r>
              <a:rPr lang="en-US" altLang="zh-CN" b="1" dirty="0"/>
              <a:t>1 </a:t>
            </a:r>
            <a:r>
              <a:rPr lang="zh-CN" altLang="en-US" b="1" dirty="0"/>
              <a:t>false positives)</a:t>
            </a:r>
            <a:r>
              <a:rPr lang="zh-CN" altLang="en-US" dirty="0"/>
              <a:t>：</a:t>
            </a:r>
          </a:p>
          <a:p>
            <a:r>
              <a:rPr lang="zh-CN" altLang="en-US" b="1" dirty="0"/>
              <a:t>False positive</a:t>
            </a:r>
            <a:r>
              <a:rPr lang="en-US" altLang="zh-CN" b="1" dirty="0"/>
              <a:t>A</a:t>
            </a:r>
            <a:r>
              <a:rPr lang="zh-CN" altLang="en-US" b="1" dirty="0"/>
              <a:t>(Blood Pressure Trap)</a:t>
            </a:r>
            <a:r>
              <a:rPr lang="zh-CN" altLang="en-US" dirty="0"/>
              <a:t>:Believes </a:t>
            </a:r>
            <a:r>
              <a:rPr lang="en-US" altLang="zh-CN" dirty="0"/>
              <a:t>AI </a:t>
            </a:r>
            <a:r>
              <a:rPr lang="zh-CN" altLang="en-US" dirty="0"/>
              <a:t>Answer "</a:t>
            </a:r>
            <a:r>
              <a:rPr lang="en-US" altLang="zh-CN" dirty="0"/>
              <a:t>135/85</a:t>
            </a:r>
            <a:r>
              <a:rPr lang="zh-CN" altLang="en-US" dirty="0"/>
              <a:t>The statement "blood pressure fluctuates within normal range" is incorrect.</a:t>
            </a:r>
          </a:p>
          <a:p>
            <a:r>
              <a:rPr lang="zh-CN" altLang="en-US" b="1" dirty="0"/>
              <a:t>False positive</a:t>
            </a:r>
            <a:r>
              <a:rPr lang="en-US" altLang="zh-CN" b="1" dirty="0"/>
              <a:t>B</a:t>
            </a:r>
            <a:r>
              <a:rPr lang="zh-CN" altLang="en-US" b="1" dirty="0"/>
              <a:t>(Dietary Pitfalls)</a:t>
            </a:r>
            <a:r>
              <a:rPr lang="zh-CN" altLang="en-US" dirty="0"/>
              <a:t>: : Believes</a:t>
            </a:r>
            <a:r>
              <a:rPr lang="en-US" altLang="zh-CN" dirty="0"/>
              <a:t>AI </a:t>
            </a:r>
            <a:r>
              <a:rPr lang="zh-CN" altLang="en-US" dirty="0"/>
              <a:t>The statement that "fish oil does not cause gout, but thick meat soup does" is incorrect.</a:t>
            </a:r>
            <a:endParaRPr lang="en-US" altLang="zh-CN" dirty="0"/>
          </a:p>
          <a:p>
            <a:endParaRPr lang="en-US" altLang="zh-CN" dirty="0"/>
          </a:p>
          <a:p>
            <a:r>
              <a:rPr lang="en-US" altLang="zh-CN" b="1" dirty="0"/>
              <a:t>3. </a:t>
            </a:r>
            <a:r>
              <a:rPr lang="zh-CN" altLang="en-US" b="1" dirty="0"/>
              <a:t>Troubleshooting and Repair Time</a:t>
            </a:r>
            <a:endParaRPr lang="en-US" altLang="zh-CN" b="1" dirty="0"/>
          </a:p>
          <a:p>
            <a:r>
              <a:rPr lang="zh-CN" altLang="en-US" b="1" dirty="0"/>
              <a:t>Task duration</a:t>
            </a:r>
            <a:r>
              <a:rPr lang="en-US" altLang="zh-CN" b="1" dirty="0"/>
              <a:t>(Time to Resolve)</a:t>
            </a:r>
            <a:r>
              <a:rPr lang="zh-CN" altLang="en-US" dirty="0"/>
              <a:t>: From the start until the subject fully submits the entire </a:t>
            </a:r>
            <a:r>
              <a:rPr lang="en-US" altLang="zh-CN" dirty="0"/>
              <a:t>Task 1 </a:t>
            </a:r>
            <a:r>
              <a:rPr lang="zh-CN" altLang="en-US" dirty="0"/>
              <a:t>The total time spent on problem description and repair suggestions.</a:t>
            </a:r>
            <a:endParaRPr lang="en-US" altLang="zh-CN" dirty="0"/>
          </a:p>
          <a:p>
            <a:endParaRPr lang="zh-CN" altLang="en-US" dirty="0"/>
          </a:p>
        </p:txBody>
      </p:sp>
    </p:spTree>
    <p:extLst>
      <p:ext uri="{BB962C8B-B14F-4D97-AF65-F5344CB8AC3E}">
        <p14:creationId xmlns:p14="http://schemas.microsoft.com/office/powerpoint/2010/main" val="163958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A48BA14-DD4D-17E9-CC21-CA32287E9C63}"/>
              </a:ext>
            </a:extLst>
          </p:cNvPr>
          <p:cNvSpPr txBox="1"/>
          <p:nvPr/>
        </p:nvSpPr>
        <p:spPr>
          <a:xfrm>
            <a:off x="297353" y="151555"/>
            <a:ext cx="11633390" cy="4801314"/>
          </a:xfrm>
          <a:prstGeom prst="rect">
            <a:avLst/>
          </a:prstGeom>
          <a:noFill/>
        </p:spPr>
        <p:txBody>
          <a:bodyPr wrap="square" rtlCol="0">
            <a:spAutoFit/>
          </a:bodyPr>
          <a:lstStyle/>
          <a:p>
            <a:r>
              <a:rPr lang="en-US" altLang="zh-CN" b="1" dirty="0"/>
              <a:t>4. </a:t>
            </a:r>
            <a:r>
              <a:rPr lang="zh-CN" altLang="en-US" b="1" dirty="0"/>
              <a:t>Effectiveness of Repair Strategies</a:t>
            </a:r>
            <a:endParaRPr lang="en-US" altLang="zh-CN" b="1" dirty="0"/>
          </a:p>
          <a:p>
            <a:r>
              <a:rPr lang="zh-CN" altLang="en-US" b="1" dirty="0"/>
              <a:t>Score Gradient (</a:t>
            </a:r>
            <a:r>
              <a:rPr lang="en-US" altLang="zh-CN" b="1" dirty="0"/>
              <a:t>1-3 Score</a:t>
            </a:r>
            <a:r>
              <a:rPr lang="zh-CN" altLang="en-US" b="1" dirty="0"/>
              <a:t>)</a:t>
            </a:r>
            <a:r>
              <a:rPr lang="zh-CN" altLang="en-US" dirty="0"/>
              <a:t>：</a:t>
            </a:r>
          </a:p>
          <a:p>
            <a:r>
              <a:rPr lang="en-US" altLang="zh-CN" b="1" dirty="0"/>
              <a:t>1 Score</a:t>
            </a:r>
            <a:r>
              <a:rPr lang="zh-CN" altLang="en-US" b="1" dirty="0"/>
              <a:t> (invalid fix</a:t>
            </a:r>
            <a:r>
              <a:rPr lang="en-US" altLang="zh-CN" b="1" dirty="0"/>
              <a:t>/ </a:t>
            </a:r>
            <a:r>
              <a:rPr lang="zh-CN" altLang="en-US" b="1" dirty="0"/>
              <a:t>Directional error)</a:t>
            </a:r>
            <a:r>
              <a:rPr lang="zh-CN" altLang="en-US" dirty="0"/>
              <a:t>: The proposed technical fix completely deviates from the core issue of "drug incompatibility." The subject misidentified the root cause of the problem (e.g., being misled by distractors into modifying originally correct parameters or knowledge bases), and their corrective actions have no substantive effect on resolving the current critical logical flaw.</a:t>
            </a:r>
          </a:p>
          <a:p>
            <a:r>
              <a:rPr lang="en-US" altLang="zh-CN" b="1" dirty="0"/>
              <a:t>2 Score</a:t>
            </a:r>
            <a:r>
              <a:rPr lang="zh-CN" altLang="en-US" b="1" dirty="0"/>
              <a:t> (General Instruction</a:t>
            </a:r>
            <a:r>
              <a:rPr lang="en-US" altLang="zh-CN" b="1" dirty="0"/>
              <a:t>/ </a:t>
            </a:r>
            <a:r>
              <a:rPr lang="zh-CN" altLang="en-US" b="1" dirty="0"/>
              <a:t>Basic Framework Repair)</a:t>
            </a:r>
            <a:r>
              <a:rPr lang="zh-CN" altLang="en-US" dirty="0"/>
              <a:t>:Recognizing this as a system-level mechanism deficiency, and attempting to address it by enhancing the reasoning constraints of the large language model itself (e.g., at the global </a:t>
            </a:r>
            <a:r>
              <a:rPr lang="en-US" altLang="zh-CN" dirty="0"/>
              <a:t>System Prompt </a:t>
            </a:r>
            <a:r>
              <a:rPr lang="zh-CN" altLang="en-US" dirty="0"/>
              <a:t>Add mandatory verification of historical medication guidelines, or </a:t>
            </a:r>
            <a:r>
              <a:rPr lang="en-US" altLang="zh-CN" dirty="0"/>
              <a:t>RAG </a:t>
            </a:r>
            <a:r>
              <a:rPr lang="zh-CN" altLang="en-US" dirty="0"/>
              <a:t>Supplement the general taboo knowledge block). Possesses generalization ability, yet remains overly dependent on</a:t>
            </a:r>
            <a:r>
              <a:rPr lang="en-US" altLang="zh-CN" dirty="0"/>
              <a:t>LLM </a:t>
            </a:r>
            <a:r>
              <a:rPr lang="zh-CN" altLang="en-US" dirty="0"/>
              <a:t>The internal reasoning process carries a potential jailbreak risk due to model hallucination.</a:t>
            </a:r>
          </a:p>
          <a:p>
            <a:r>
              <a:rPr lang="en-US" altLang="zh-CN" b="1" dirty="0"/>
              <a:t>3 Score</a:t>
            </a:r>
            <a:r>
              <a:rPr lang="zh-CN" altLang="en-US" b="1" dirty="0"/>
              <a:t> (Mechanism Level)</a:t>
            </a:r>
            <a:r>
              <a:rPr lang="en-US" altLang="zh-CN" b="1" dirty="0"/>
              <a:t>/ </a:t>
            </a:r>
            <a:r>
              <a:rPr lang="zh-CN" altLang="en-US" b="1" dirty="0"/>
              <a:t>Workflow Architecture Restructuring</a:t>
            </a:r>
            <a:r>
              <a:rPr lang="zh-CN" altLang="en-US" dirty="0"/>
              <a:t>:Transcends the limitations of single prompt engineering by introducing a low-code workflow (</a:t>
            </a:r>
            <a:r>
              <a:rPr lang="en-US" altLang="zh-CN" dirty="0"/>
              <a:t>Workflow</a:t>
            </a:r>
            <a:r>
              <a:rPr lang="zh-CN" altLang="en-US" dirty="0"/>
              <a:t>) Hard-blocking mechanisms at the orchestration level (e.g., recommending the introduction of professional "drug interaction query</a:t>
            </a:r>
            <a:r>
              <a:rPr lang="en-US" altLang="zh-CN" dirty="0"/>
              <a:t>API”</a:t>
            </a:r>
            <a:r>
              <a:rPr lang="zh-CN" altLang="en-US" dirty="0"/>
              <a:t>Plugin nodes, or add standalone</a:t>
            </a:r>
            <a:r>
              <a:rPr lang="en-US" altLang="zh-CN" dirty="0"/>
              <a:t>Evaluator </a:t>
            </a:r>
            <a:r>
              <a:rPr lang="zh-CN" altLang="en-US" dirty="0"/>
              <a:t>Mandatory decoupling verification before output by the review agent node), fundamentally eliminating such high-risk logic vulnerabilities at the system architecture level.</a:t>
            </a:r>
          </a:p>
          <a:p>
            <a:endParaRPr lang="zh-CN" altLang="en-US" dirty="0"/>
          </a:p>
        </p:txBody>
      </p:sp>
    </p:spTree>
    <p:extLst>
      <p:ext uri="{BB962C8B-B14F-4D97-AF65-F5344CB8AC3E}">
        <p14:creationId xmlns:p14="http://schemas.microsoft.com/office/powerpoint/2010/main" val="108724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3AFD10E-E669-8998-5BB1-E14BAA9AF232}"/>
              </a:ext>
            </a:extLst>
          </p:cNvPr>
          <p:cNvSpPr txBox="1"/>
          <p:nvPr/>
        </p:nvSpPr>
        <p:spPr>
          <a:xfrm>
            <a:off x="81737" y="96635"/>
            <a:ext cx="11638547" cy="7017306"/>
          </a:xfrm>
          <a:prstGeom prst="rect">
            <a:avLst/>
          </a:prstGeom>
          <a:noFill/>
        </p:spPr>
        <p:txBody>
          <a:bodyPr wrap="square" rtlCol="0">
            <a:spAutoFit/>
          </a:bodyPr>
          <a:lstStyle/>
          <a:p>
            <a:r>
              <a:rPr lang="zh-CN" altLang="en-US" b="1" dirty="0"/>
              <a:t>Part 1: Cognitive and Troubleshooting Effectiveness Evaluation</a:t>
            </a:r>
          </a:p>
          <a:p>
            <a:r>
              <a:rPr lang="zh-CN" altLang="en-US" b="1" dirty="0"/>
              <a:t>Energy Requirements</a:t>
            </a:r>
            <a:r>
              <a:rPr lang="zh-CN" altLang="en-US" dirty="0"/>
              <a:t>:In the previous task, how much effort did you expend to understand the workflow logic and complete the troubleshooting? (Score:</a:t>
            </a:r>
            <a:r>
              <a:rPr lang="en-US" altLang="zh-CN" dirty="0"/>
              <a:t>1=</a:t>
            </a:r>
            <a:r>
              <a:rPr lang="zh-CN" altLang="en-US" dirty="0"/>
              <a:t>Very rare.</a:t>
            </a:r>
            <a:r>
              <a:rPr lang="en-US" altLang="zh-CN" dirty="0"/>
              <a:t>7=</a:t>
            </a:r>
            <a:r>
              <a:rPr lang="zh-CN" altLang="en-US" dirty="0"/>
              <a:t>extremely many)</a:t>
            </a:r>
          </a:p>
          <a:p>
            <a:r>
              <a:rPr lang="zh-CN" altLang="en-US" b="1" dirty="0"/>
              <a:t>Self-Expression Evaluation</a:t>
            </a:r>
            <a:r>
              <a:rPr lang="zh-CN" altLang="en-US" dirty="0"/>
              <a:t>:To what extent do you believe you have successfully identified the root cause of the agent's erroneous output? (Score:</a:t>
            </a:r>
            <a:r>
              <a:rPr lang="en-US" altLang="zh-CN" dirty="0"/>
              <a:t>1=</a:t>
            </a:r>
            <a:r>
              <a:rPr lang="zh-CN" altLang="en-US" dirty="0"/>
              <a:t>Complete failure.</a:t>
            </a:r>
            <a:r>
              <a:rPr lang="en-US" altLang="zh-CN" dirty="0"/>
              <a:t>7=</a:t>
            </a:r>
            <a:r>
              <a:rPr lang="zh-CN" altLang="en-US" dirty="0"/>
              <a:t>Complete success)</a:t>
            </a:r>
          </a:p>
          <a:p>
            <a:r>
              <a:rPr lang="zh-CN" altLang="en-US" b="1" dirty="0"/>
              <a:t>Root Cause Localization Confidence</a:t>
            </a:r>
            <a:r>
              <a:rPr lang="zh-CN" altLang="en-US" dirty="0"/>
              <a:t>:I am very confident that the issue I just identified is the root cause of the agent's anomaly, rather than a superficial symptom. (Score:</a:t>
            </a:r>
            <a:r>
              <a:rPr lang="en-US" altLang="zh-CN" dirty="0"/>
              <a:t>1=</a:t>
            </a:r>
            <a:r>
              <a:rPr lang="zh-CN" altLang="en-US" dirty="0"/>
              <a:t>Extreme uncertainty,</a:t>
            </a:r>
            <a:r>
              <a:rPr lang="en-US" altLang="zh-CN" dirty="0"/>
              <a:t>7=</a:t>
            </a:r>
            <a:r>
              <a:rPr lang="zh-CN" altLang="en-US" dirty="0"/>
              <a:t>(Extremely confident)</a:t>
            </a:r>
          </a:p>
          <a:p>
            <a:r>
              <a:rPr lang="zh-CN" altLang="en-US" b="1" dirty="0"/>
              <a:t>Confidence in the remediation plan</a:t>
            </a:r>
            <a:r>
              <a:rPr lang="zh-CN" altLang="en-US" dirty="0"/>
              <a:t>:I am very confident that the fix I proposed can resolve the issue at the system mechanism level without disrupting the existing normal functionality. (Score:</a:t>
            </a:r>
            <a:r>
              <a:rPr lang="en-US" altLang="zh-CN" dirty="0"/>
              <a:t>1=</a:t>
            </a:r>
            <a:r>
              <a:rPr lang="zh-CN" altLang="en-US" dirty="0"/>
              <a:t>Extreme uncertainty,</a:t>
            </a:r>
            <a:r>
              <a:rPr lang="en-US" altLang="zh-CN" dirty="0"/>
              <a:t>7=</a:t>
            </a:r>
            <a:r>
              <a:rPr lang="zh-CN" altLang="en-US" dirty="0"/>
              <a:t>(Extremely confident)</a:t>
            </a:r>
          </a:p>
          <a:p>
            <a:r>
              <a:rPr lang="zh-CN" altLang="en-US" b="1" dirty="0"/>
              <a:t>Anti-interference Confidence</a:t>
            </a:r>
            <a:r>
              <a:rPr lang="zh-CN" altLang="en-US" dirty="0"/>
              <a:t>:When reviewing system logs and conversations, I can clearly distinguish irrelevant noise data and am not misled by them. (Score:</a:t>
            </a:r>
            <a:r>
              <a:rPr lang="en-US" altLang="zh-CN" dirty="0"/>
              <a:t>1=</a:t>
            </a:r>
            <a:r>
              <a:rPr lang="zh-CN" altLang="en-US" dirty="0"/>
              <a:t>Extreme uncertainty,</a:t>
            </a:r>
            <a:r>
              <a:rPr lang="en-US" altLang="zh-CN" dirty="0"/>
              <a:t>7=</a:t>
            </a:r>
            <a:r>
              <a:rPr lang="zh-CN" altLang="en-US" dirty="0"/>
              <a:t>(Extremely confident)</a:t>
            </a:r>
          </a:p>
          <a:p>
            <a:endParaRPr lang="zh-CN" altLang="en-US" dirty="0"/>
          </a:p>
          <a:p>
            <a:r>
              <a:rPr lang="zh-CN" altLang="en-US" b="1" dirty="0"/>
              <a:t>Part 2: Tool Availability and Value Assessment Willingness and Expectations</a:t>
            </a:r>
            <a:r>
              <a:rPr lang="en-US" altLang="zh-CN" b="1" dirty="0"/>
              <a:t>(SUS)</a:t>
            </a:r>
            <a:r>
              <a:rPr lang="zh-CN" altLang="en-US" dirty="0"/>
              <a:t>:I think I will frequently use low-code in my daily work.</a:t>
            </a:r>
            <a:r>
              <a:rPr lang="en-US" altLang="zh-CN" dirty="0"/>
              <a:t>/</a:t>
            </a:r>
            <a:r>
              <a:rPr lang="zh-CN" altLang="en-US" dirty="0"/>
              <a:t>In the tuning of no-code agents, this auxiliary diagnostic tool is used. (Score:</a:t>
            </a:r>
            <a:r>
              <a:rPr lang="en-US" altLang="zh-CN" dirty="0"/>
              <a:t>1=</a:t>
            </a:r>
            <a:r>
              <a:rPr lang="zh-CN" altLang="en-US" dirty="0"/>
              <a:t>Strongly oppose,</a:t>
            </a:r>
            <a:r>
              <a:rPr lang="en-US" altLang="zh-CN" dirty="0"/>
              <a:t>7=</a:t>
            </a:r>
            <a:r>
              <a:rPr lang="zh-CN" altLang="en-US" dirty="0"/>
              <a:t>Strongly agree)</a:t>
            </a:r>
          </a:p>
          <a:p>
            <a:r>
              <a:rPr lang="zh-CN" altLang="en-US" b="1" dirty="0"/>
              <a:t>Complex Perception</a:t>
            </a:r>
            <a:r>
              <a:rPr lang="en-US" altLang="zh-CN" b="1" dirty="0"/>
              <a:t>:</a:t>
            </a:r>
            <a:r>
              <a:rPr lang="zh-CN" altLang="en-US" b="1"/>
              <a:t> </a:t>
            </a:r>
            <a:r>
              <a:rPr lang="zh-CN" altLang="en-US"/>
              <a:t>I </a:t>
            </a:r>
            <a:r>
              <a:rPr lang="zh-CN" altLang="en-US" dirty="0"/>
              <a:t>feel that the output report of this tool is overly complex and cumbersome, with a high barrier to readability. (Score:</a:t>
            </a:r>
            <a:r>
              <a:rPr lang="en-US" altLang="zh-CN" dirty="0"/>
              <a:t>1=</a:t>
            </a:r>
            <a:r>
              <a:rPr lang="zh-CN" altLang="en-US" dirty="0"/>
              <a:t>Strongly oppose,</a:t>
            </a:r>
            <a:r>
              <a:rPr lang="en-US" altLang="zh-CN" dirty="0"/>
              <a:t>7=</a:t>
            </a:r>
            <a:r>
              <a:rPr lang="zh-CN" altLang="en-US" dirty="0"/>
              <a:t>Strongly agree)</a:t>
            </a:r>
          </a:p>
          <a:p>
            <a:r>
              <a:rPr lang="zh-CN" altLang="en-US" b="1" dirty="0"/>
              <a:t>Learnability</a:t>
            </a:r>
            <a:r>
              <a:rPr lang="zh-CN" altLang="en-US" dirty="0"/>
              <a:t>: I believe most developers can quickly learn to read and understand the diagnostic reports generated by this tool. (Score:</a:t>
            </a:r>
            <a:r>
              <a:rPr lang="en-US" altLang="zh-CN" dirty="0"/>
              <a:t>1=</a:t>
            </a:r>
            <a:r>
              <a:rPr lang="zh-CN" altLang="en-US" dirty="0"/>
              <a:t>Strongly oppose,</a:t>
            </a:r>
            <a:r>
              <a:rPr lang="en-US" altLang="zh-CN" dirty="0"/>
              <a:t>7=</a:t>
            </a:r>
            <a:r>
              <a:rPr lang="zh-CN" altLang="en-US" dirty="0"/>
              <a:t>Strongly agree)</a:t>
            </a:r>
          </a:p>
          <a:p>
            <a:r>
              <a:rPr lang="zh-CN" altLang="en-US" b="1" dirty="0"/>
              <a:t>Attribution Clarity</a:t>
            </a:r>
            <a:r>
              <a:rPr lang="zh-CN" altLang="en-US" dirty="0"/>
              <a:t>: The "attribution decomposition" in the report clearly identifies the responsibilities of different modules, which is more intuitive than reading the raw logs myself. (Score:</a:t>
            </a:r>
            <a:r>
              <a:rPr lang="en-US" altLang="zh-CN" dirty="0"/>
              <a:t>1=</a:t>
            </a:r>
            <a:r>
              <a:rPr lang="zh-CN" altLang="en-US" dirty="0"/>
              <a:t>Strongly oppose.</a:t>
            </a:r>
            <a:r>
              <a:rPr lang="en-US" altLang="zh-CN" dirty="0"/>
              <a:t>7=</a:t>
            </a:r>
            <a:r>
              <a:rPr lang="zh-CN" altLang="en-US" dirty="0"/>
              <a:t>Strongly agree)</a:t>
            </a:r>
          </a:p>
          <a:p>
            <a:r>
              <a:rPr lang="zh-CN" altLang="en-US" b="1" dirty="0"/>
              <a:t>Fix Heuristic</a:t>
            </a:r>
            <a:r>
              <a:rPr lang="zh-CN" altLang="en-US" dirty="0"/>
              <a:t>：The "fix suggestions" provided in the report broadened my troubleshooting perspective and helped me conceive system-architecture-level solutions. (Score:</a:t>
            </a:r>
            <a:r>
              <a:rPr lang="en-US" altLang="zh-CN" dirty="0"/>
              <a:t>1=</a:t>
            </a:r>
            <a:r>
              <a:rPr lang="zh-CN" altLang="en-US" dirty="0"/>
              <a:t>Strongly oppose,</a:t>
            </a:r>
            <a:r>
              <a:rPr lang="en-US" altLang="zh-CN" dirty="0"/>
              <a:t>7=</a:t>
            </a:r>
            <a:r>
              <a:rPr lang="zh-CN" altLang="en-US" dirty="0"/>
              <a:t>Strongly agree)</a:t>
            </a:r>
          </a:p>
          <a:p>
            <a:endParaRPr lang="zh-CN" altLang="en-US" dirty="0"/>
          </a:p>
        </p:txBody>
      </p:sp>
    </p:spTree>
    <p:extLst>
      <p:ext uri="{BB962C8B-B14F-4D97-AF65-F5344CB8AC3E}">
        <p14:creationId xmlns:p14="http://schemas.microsoft.com/office/powerpoint/2010/main" val="388829227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927</Words>
  <Application>Microsoft Office PowerPoint</Application>
  <PresentationFormat>宽屏</PresentationFormat>
  <Paragraphs>30</Paragraphs>
  <Slides>3</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vt:i4>
      </vt:variant>
    </vt:vector>
  </HeadingPairs>
  <TitlesOfParts>
    <vt:vector size="7" baseType="lpstr">
      <vt:lpstr>等线</vt:lpstr>
      <vt:lpstr>等线 Light</vt:lpstr>
      <vt:lpstr>Arial</vt:lpstr>
      <vt:lpstr>Office 主题​​</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2026-10-19T09:54:28Z</dcterms:created>
  <dcterms:modified xsi:type="dcterms:W3CDTF">2026-10-19T09:54:31Z</dcterms:modified>
</cp:coreProperties>
</file>